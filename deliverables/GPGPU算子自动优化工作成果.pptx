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dd4563dd5d4909" /><Relationship Type="http://schemas.openxmlformats.org/officeDocument/2006/relationships/extended-properties" Target="/docProps/app.xml" Id="R41d67b8fb7f8445a" /><Relationship Type="http://schemas.openxmlformats.org/officeDocument/2006/relationships/officeDocument" Target="/ppt/presentation.xml" Id="Ree1d8cea72424d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6688decdd84e77"/>
  </p:sldMasterIdLst>
  <p:notesMasterIdLst>
    <p:notesMasterId xmlns:r="http://schemas.openxmlformats.org/officeDocument/2006/relationships" r:id="Rca00c06dce0246b7"/>
  </p:notesMasterIdLst>
  <p:sldIdLst>
    <p:sldId xmlns:r="http://schemas.openxmlformats.org/officeDocument/2006/relationships" id="256" r:id="R4ff2fb44dc374d5a"/>
    <p:sldId xmlns:r="http://schemas.openxmlformats.org/officeDocument/2006/relationships" id="257" r:id="Rdffa6e7114554060"/>
    <p:sldId xmlns:r="http://schemas.openxmlformats.org/officeDocument/2006/relationships" id="258" r:id="Rd0dec91ee5a845ed"/>
    <p:sldId xmlns:r="http://schemas.openxmlformats.org/officeDocument/2006/relationships" id="259" r:id="R08057e3674274704"/>
    <p:sldId xmlns:r="http://schemas.openxmlformats.org/officeDocument/2006/relationships" id="260" r:id="Rf05cc09f28924e38"/>
    <p:sldId xmlns:r="http://schemas.openxmlformats.org/officeDocument/2006/relationships" id="261" r:id="Rb343e040f1b14f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b78e77bdf945b3" /><Relationship Type="http://schemas.openxmlformats.org/officeDocument/2006/relationships/slideMaster" Target="/ppt/slideMasters/slideMaster1.xml" Id="R226688decdd84e77" /><Relationship Type="http://schemas.openxmlformats.org/officeDocument/2006/relationships/notesMaster" Target="/ppt/notesMasters/notesMaster1.xml" Id="Rca00c06dce0246b7" /><Relationship Type="http://schemas.openxmlformats.org/officeDocument/2006/relationships/presProps" Target="/ppt/presProps.xml" Id="Rb342829066ac431c" /><Relationship Type="http://schemas.openxmlformats.org/officeDocument/2006/relationships/tableStyles" Target="/ppt/tableStyles.xml" Id="Reaee06394258474a" /><Relationship Type="http://schemas.openxmlformats.org/officeDocument/2006/relationships/slide" Target="/ppt/slides/slide1.xml" Id="R4ff2fb44dc374d5a" /><Relationship Type="http://schemas.openxmlformats.org/officeDocument/2006/relationships/slide" Target="/ppt/slides/slide2.xml" Id="Rdffa6e7114554060" /><Relationship Type="http://schemas.openxmlformats.org/officeDocument/2006/relationships/slide" Target="/ppt/slides/slide3.xml" Id="Rd0dec91ee5a845ed" /><Relationship Type="http://schemas.openxmlformats.org/officeDocument/2006/relationships/slide" Target="/ppt/slides/slide4.xml" Id="R08057e3674274704" /><Relationship Type="http://schemas.openxmlformats.org/officeDocument/2006/relationships/slide" Target="/ppt/slides/slide5.xml" Id="Rf05cc09f28924e38" /><Relationship Type="http://schemas.openxmlformats.org/officeDocument/2006/relationships/slide" Target="/ppt/slides/slide6.xml" Id="Rb343e040f1b14f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be3ee064b448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e26ef585814407" /><Relationship Type="http://schemas.openxmlformats.org/officeDocument/2006/relationships/notesMaster" Target="/ppt/notesMasters/notesMaster1.xml" Id="R5214ee6c1cd744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bd4ad2e1f64c78" /><Relationship Type="http://schemas.openxmlformats.org/officeDocument/2006/relationships/notesMaster" Target="/ppt/notesMasters/notesMaster1.xml" Id="R7fc6e6f068ec44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bb69bc334f46fd" /><Relationship Type="http://schemas.openxmlformats.org/officeDocument/2006/relationships/notesMaster" Target="/ppt/notesMasters/notesMaster1.xml" Id="Reaf13ba140934e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fc07e1714145e5" /><Relationship Type="http://schemas.openxmlformats.org/officeDocument/2006/relationships/notesMaster" Target="/ppt/notesMasters/notesMaster1.xml" Id="Rb784cd92c18a45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ee0bd82dda44c5" /><Relationship Type="http://schemas.openxmlformats.org/officeDocument/2006/relationships/notesMaster" Target="/ppt/notesMasters/notesMaster1.xml" Id="Rfad7f97fd31c4a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4fd190721d422c" /><Relationship Type="http://schemas.openxmlformats.org/officeDocument/2006/relationships/notesMaster" Target="/ppt/notesMasters/notesMaster1.xml" Id="R182877cbafb34b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这一页先简单介绍我们的工作。我们关注的是 GPU 算子自动优化，也就是让 Agent 帮我们分析算子、选择优化方案，再由系统自动编译和测试。当前主要在 V100 上复现 KDA 的思路。最直观的结果是，GDN Decode 从普通 PyTorch 实现优化到 Triton 后，实测加速接近 11 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这一页不用展开技术细节，先让大家知道我们做的是一套完整流程，不只是手工改了一个算子。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资料来源：项目 README.md；AGENT_ORDINARY_BASELINE_V100_RESULT.md。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这里汇总目前最主要的成果。GDN Decode 从普通 PyTorch 基线出发，流程内加速是 10.985 倍。Decode 的 54 组官方输入和 Prefill 的 100 组官方输入都已经全部验证正确。Residual Add RMSNorm 相对未融合的 PyTorch 表达式，也有 5.60 到 10.13 倍的提升。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需要注意，这几组数字的基线不同。10.985 倍和 RMSNorm 的几倍提升，都是相对普通或未融合 PyTorch。后面还会单独说明，相对已经优化得比较好的 Triton 基线，提升会小很多。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资料来源：README.md；OFFICIAL_V100_RESULT.md；PREFILL_V100_RESULT.md；V100_STRICT_RESULT.md。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这一页是整体架构。最左边是任务契约和普通基线，它们告诉系统输入输出是什么、结果要满足什么误差。Agent 先分析性能瓶颈，然后给出结构化设计，比如要不要融合、ROWS 取多少、使用几个 warps。控制器再把这些选择转换成受限制的 Triton 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候选生成后，系统会自动检查正确性和性能。只有全部测试通过而且确实更快，候选才会晋级。下面三项是整个流程的基础：官方 reference 和 workload 提供标准答案，V100 负责真实运行，实验记录保存每一步证据。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资料来源：agent_controller.py；项目 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这里按顺序讲一下 Agent 流程。第一步读任务和当前最佳实现，第二步分析瓶颈并选择设计。然后系统生成候选，先做静态检查，再用少量输入做冒烟测试。冒烟通过后，才运行全部官方 workload。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性能测试采用基线和候选交替计时，尽量减少 GPU 波动带来的误判。最后同时满足正确、分支通过、真实性能更快和提升门槛，候选才会晋级。失败也不会白跑，原因、模型响应和原始计时都会保存，方便下一轮改进。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资料来源：agent_controller.py；candidates.jsonl。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这一页说明性能为什么会提升。普通 PyTorch 写法容易产生多个中间张量，状态矩阵会在显存里来回读写。Agent 选择把门控、归约、状态更新和输出融合到一个 Triton 内核里，并把原来的状态更新公式做等价化简。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调度上选择 ROWS 等于 4、4 个 warps。V100 没有原生 BF16 算术支持，所以代码还处理了 BF16 的读取和舍入，主要状态继续使用 FP32 保证精度。最后仍然用官方 reference 和全部输入验证，不能因为代码看起来更快就直接采用。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资料来源：gdn_decode_torch_seed.py；gdn_decode.py；AGENT_ORDINARY_BASELINE_V100_RESULT.md。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最后看性能。普通 PyTorch 的配对基线是 0.256053 毫秒，Agent 选择的 Triton 候选是 0.023308 毫秒，对应 10.985 倍加速。54 组 workload 里候选全部更快，同时 54 组正确性和 3 个额外分支也全部通过。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这里要强调两个性能口径。相对普通 PyTorch，融合带来的总收益很大，能够展示自动优化流程的完整价值。相对已经很强的 Triton 基线，同一个候选只提升约 0.46%；Prefill 相对强基线提升 1.454%。所以后续工作的重点，是扩大搜索空间，让 Agent 在强基线上也能持续找到更好的设计。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资料来源：decode-ordinary-structured/runs/0002-agent-full.json；AGENT_V100_RESULT.md；AGENT_PREFILL_V100_RESULT.md。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82ebea9e80465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09f80c1be6445f" /><Relationship Type="http://schemas.openxmlformats.org/officeDocument/2006/relationships/slideLayout" Target="/ppt/slideLayouts/slideLayout1.xml" Id="R43037c4e630b4f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037c4e630b4f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4b3c3e00844eb6" /><Relationship Type="http://schemas.openxmlformats.org/officeDocument/2006/relationships/notesSlide" Target="/ppt/notesSlides/notesSlide1.xml" Id="R6d224554ce5c42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e494785984d7f" /><Relationship Type="http://schemas.openxmlformats.org/officeDocument/2006/relationships/notesSlide" Target="/ppt/notesSlides/notesSlide2.xml" Id="Rd8296a64679744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7ff508ef348ee" /><Relationship Type="http://schemas.openxmlformats.org/officeDocument/2006/relationships/notesSlide" Target="/ppt/notesSlides/notesSlide3.xml" Id="R6fdef2ce3e8e4e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653f8df6d43b1" /><Relationship Type="http://schemas.openxmlformats.org/officeDocument/2006/relationships/notesSlide" Target="/ppt/notesSlides/notesSlide4.xml" Id="R6686f4b7e29042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35ec6825a45bd" /><Relationship Type="http://schemas.openxmlformats.org/officeDocument/2006/relationships/notesSlide" Target="/ppt/notesSlides/notesSlide5.xml" Id="Re6c01a44a7b04e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f7e138bd746ac" /><Relationship Type="http://schemas.openxmlformats.org/officeDocument/2006/relationships/chart" Target="/ppt/slides/charts/chart1.xml" Id="Rf1918aae133646cf" /><Relationship Type="http://schemas.openxmlformats.org/officeDocument/2006/relationships/notesSlide" Target="/ppt/notesSlides/notesSlide6.xml" Id="R63df9a5e859b4dd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几何平均延迟</c:v>
          </c:tx>
          <c:dPt>
            <c:idx val="0"/>
            <c:invertIfNegative val="0"/>
            <c:spPr>
              <a:solidFill xmlns:a="http://schemas.openxmlformats.org/drawingml/2006/main">
                <a:srgbClr val="718096"/>
              </a:solidFill>
              <a:ln xmlns:a="http://schemas.openxmlformats.org/drawingml/2006/main" w="9525">
                <a:solidFill>
                  <a:srgbClr val="718096"/>
                </a:solidFill>
                <a:prstDash val="solid"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2DD4BF"/>
              </a:solidFill>
              <a:ln xmlns:a="http://schemas.openxmlformats.org/drawingml/2006/main" w="9525">
                <a:solidFill>
                  <a:srgbClr val="2DD4BF"/>
                </a:solidFill>
                <a:prstDash val="solid"/>
              </a:ln>
            </c:spPr>
          </c:dPt>
          <c:cat>
            <c:strLit>
              <c:ptCount val="2"/>
              <c:pt idx="0">
                <c:v>普通 PyTorch</c:v>
              </c:pt>
              <c:pt idx="1">
                <c:v>Agent Triton</c:v>
              </c:pt>
            </c:strLit>
          </c:cat>
          <c:val>
            <c:numLit>
              <c:formatCode>0.000</c:formatCode>
              <c:ptCount val="2"/>
              <c:pt idx="0">
                <c:v>0.2560525113</c:v>
              </c:pt>
              <c:pt idx="1">
                <c:v>0.023308403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20384F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6EF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B9C7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384F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8FC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5F8FC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62451-61D8-4E50-828E-0A77EDEF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29B29-029B-4BFB-959A-3D798AD3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7524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4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GPGPU 算子自动优化工作成果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3DE693-0C4C-434A-AAB4-0E02731A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KDA 思路复现与 V100 实验验证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C90A7-00AD-4BED-A451-F4148A5D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059EFE-5287-4CE1-A8AA-E72BD206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623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rPr>
              <a:t>自动化算子优化  ·  Triton  ·  结构化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187D5E-3217-40F5-ADD6-85E29173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85950"/>
            <a:ext cx="27241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10.985×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0ABC5-9914-48C1-922F-1268F618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76550"/>
            <a:ext cx="253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普通 PyTorch 到 Triton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V100 配对实测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1EEDC9-0859-4C44-B6FD-5F828019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2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2026.09</a:t>
            </a:r>
          </a:p>
        </p:txBody>
      </p:sp>
    </p:spTree>
    <p:extLst>
      <p:ext uri="{BB962C8B-B14F-4D97-AF65-F5344CB8AC3E}">
        <p14:creationId xmlns:p14="http://schemas.microsoft.com/office/powerpoint/2010/main" val="16761896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7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AC2F83-EE3C-43CB-8039-B193084F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工作成果总览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97760-EF9D-47F6-8AB9-A3018893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00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DD4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A457D-F33B-4A76-976C-784955F8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9144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形成可复现的自动优化闭环，并保存完整验证证据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99AD9-9915-4D58-BFDF-A91F1826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10.985×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94611-D96F-4409-90F6-48D82209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GDN Decode 相对普通 PyTorch 的流程内加速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26777-91A4-472B-8731-B9613C9C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718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同轮配对：0.256053 ms → 0.023308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12931-64F9-4374-BDD2-FDEA4670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192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3C58E9-F662-4388-8358-0BCF39AD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rPr>
              <a:t>54 / 54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23EB4A-568C-4271-8109-FE2665A7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526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GDN Decode 官方 workload 全部正确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661667-7773-480A-A7A6-3FB71607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rPr>
              <a:t>100 / 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D5C164-BAE8-4A37-BC19-FD80C077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99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GDN Prefill 官方 workload 全部正确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A61FA-26F7-4FF5-B152-7E789DCE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B45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B454"/>
                </a:solidFill>
                <a:latin typeface="Microsoft YaHei"/>
                <a:ea typeface="Microsoft YaHei"/>
                <a:cs typeface="Microsoft YaHei"/>
              </a:rPr>
              <a:t>5.60×–10.13×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D425CC-D0E0-45FC-A73D-74565685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Residual Add RMSNorm 相对未融合 PyTorch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342BE7-781E-4636-9E0B-4537C182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结果均保存候选源码、API 元数据、正确性误差、原始计时与晋级账本</a:t>
            </a:r>
          </a:p>
        </p:txBody>
      </p:sp>
    </p:spTree>
    <p:extLst>
      <p:ext uri="{BB962C8B-B14F-4D97-AF65-F5344CB8AC3E}">
        <p14:creationId xmlns:p14="http://schemas.microsoft.com/office/powerpoint/2010/main" val="1295500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F2EE18-4372-44F7-8B11-2BD149DA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整体架构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D241B-C1DD-4183-AA28-F70D8A6C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00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DD4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B5075-2223-4D2A-B5CA-462F7675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9144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模型负责提出设计，确定性系统负责生成、验证和决策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4DC32-D3E0-41D4-B2FB-1EB5F36C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81200"/>
            <a:ext cx="16192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0243A"/>
          </a:solidFill>
          <a:ln xmlns:a="http://schemas.openxmlformats.org/drawingml/2006/main" w="14288">
            <a:solidFill>
              <a:srgbClr val="4EA7FF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普通基线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3D8CDD-29DF-4019-AE42-189D753A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981200"/>
            <a:ext cx="16192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2293F"/>
          </a:solidFill>
          <a:ln xmlns:a="http://schemas.openxmlformats.org/drawingml/2006/main" w="14288">
            <a:solidFill>
              <a:srgbClr val="2DD4BF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LLM Agent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性能分析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C8C6D1-C7FF-402A-8250-6A63AAFB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81200"/>
            <a:ext cx="16192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02E3A"/>
          </a:solidFill>
          <a:ln xmlns:a="http://schemas.openxmlformats.org/drawingml/2006/main" w="14288">
            <a:solidFill>
              <a:srgbClr val="2DD4BF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结构化设计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调度参数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5B6D33-2EB2-4A1F-B27B-84D9CCA4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81200"/>
            <a:ext cx="16192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2B2632"/>
          </a:solidFill>
          <a:ln xmlns:a="http://schemas.openxmlformats.org/drawingml/2006/main" w="14288">
            <a:solidFill>
              <a:srgbClr val="FFB454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Triton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代码生成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7193E9-08BF-497E-966E-398774D1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81200"/>
            <a:ext cx="16192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B2D2A"/>
          </a:solidFill>
          <a:ln xmlns:a="http://schemas.openxmlformats.org/drawingml/2006/main" w="14288">
            <a:solidFill>
              <a:srgbClr val="55D187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正确性与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性能验证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01770-D234-4EBC-85A1-62667758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1981200"/>
            <a:ext cx="1428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C2738"/>
          </a:solidFill>
          <a:ln xmlns:a="http://schemas.openxmlformats.org/drawingml/2006/main" w="14288">
            <a:solidFill>
              <a:srgbClr val="4EA7FF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候选账本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自动晋级</a:t>
            </a:r>
          </a:p>
        </p:txBody>
      </p:sp>
      <p:cxnSp>
        <p:nvCxnSpPr>
          <p:cNvPr id="4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209800" y="24574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809A"/>
            </a:solidFill>
            <a:prstDash val="solid"/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152900" y="24574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809A"/>
            </a:solidFill>
            <a:prstDash val="solid"/>
            <a:tailEnd type="triangle" w="sm" len="sm"/>
          </a:ln>
        </p:spPr>
      </p:cxnSp>
      <p:cxnSp>
        <p:nvCxnSpPr>
          <p:cNvPr id="4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96000" y="24574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809A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039100" y="24574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809A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982200" y="24574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809A"/>
            </a:solidFill>
            <a:prstDash val="solid"/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270A1-A1AD-4341-A276-B7211300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证据与运行环境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319F55-7B86-4A24-B85F-2BED8B3A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9405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7FAF6-4D18-409A-8F9C-418DE7CD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rPr>
              <a:t>官方 reference 与 workload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420EB9-56E8-4EDF-B167-0BB35C2D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提供输入、输出语义与误差标准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EED99D-EE68-4EF6-BD39-154D988C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76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V100 / PyTorch / Triton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DB9B21-DC05-4540-9F46-1E93CB14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768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执行真实编译、GPU 计时和边界验证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7CC72F-15BD-4216-860F-1F63EAC8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76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rPr>
              <a:t>不可变实验记录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A57236-E04A-412C-8C11-A4613E4C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76800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保存源码哈希、API token 与每组原始结果</a:t>
            </a:r>
          </a:p>
        </p:txBody>
      </p:sp>
    </p:spTree>
    <p:extLst>
      <p:ext uri="{BB962C8B-B14F-4D97-AF65-F5344CB8AC3E}">
        <p14:creationId xmlns:p14="http://schemas.microsoft.com/office/powerpoint/2010/main" val="5566699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7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042639-00E2-4598-84FE-3CCBF472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Agent 自动优化流程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D05B4-BA02-407F-992D-4B51472C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00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DD4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B68E79-A517-442E-8024-9C426112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9144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每个候选都要通过同一套确定性门禁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1BB12-CDD0-4908-A7E7-AAEF0763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A7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88EABD-7A78-4A15-9029-A76FA531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859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E653A7-188D-4EDC-9481-93B4BB20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859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读取任务契约与当前最佳实现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D4F98-D612-4DE2-8055-AAEAFBE8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885950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7C8EF-7629-43FC-81FA-55436C47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14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84BAFC-E669-4C10-B873-8CCEF7B4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90CC34-3142-45FE-B3E2-E0C75542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分析瓶颈并输出结构化设计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4B9EF-34B0-4A77-A66D-4CCEEC4A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33650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A1CB19-3832-4F47-B05A-D62C37C4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EAB08-00DB-43E0-829B-4E7E11AD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570F3A-97A7-442E-847B-3DDF1EDE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813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生成候选并执行静态检查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EC1A27-1346-427C-89F0-DE4AD264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81350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9F90A-FA75-44B8-A2B1-0761CB63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D18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69102-2807-48E6-A59D-82AC23DD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A4195F-481B-4EEE-AE6E-0E40981E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290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4组冒烟验证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D3C278-78EB-478E-9CD3-C449562C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29050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AC1AD4-B180-485E-88CF-521B983E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D187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A4C8F6-65A3-4F4E-BD32-CBBCB34C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3CB926-8DBF-47E5-AB92-24A6715A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767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官方 workload 全量正确性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221296-3510-4EEC-862E-382C19FC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372BA-04BE-4B0A-AF29-82968F31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A7F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677A34-F3B1-4A91-9D16-8FA10D19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3F646F-96A2-4A30-889D-732F96D0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244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基线与候选交替配对计时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886F55-0B53-4AD0-AC0E-2D7C627E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05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EA236C-6071-4758-80A7-3FF54D6C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53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4B2022-1547-49B7-A5C2-C60369E6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972F39-7555-49C2-B45A-C9ECD6B1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721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达到门槛后晋级，否则保留拒绝证据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0A3768-ACEC-4638-8539-BAF87C8F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811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晋级条件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936746-C750-4E55-90BC-950861DC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76450"/>
            <a:ext cx="310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D4B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362ADB-2235-4DAB-93D7-EF82231C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812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rPr>
              <a:t>全部输入正确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525A81-EB69-409B-AF1B-9894777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rPr>
              <a:t>边界分支通过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BC22D5-5A63-4E54-AEF5-52C1638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524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rPr>
              <a:t>同轮真实性能更快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221F1D-26E1-4E3F-A871-D7EFDE3B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957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达到预设提升门槛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5E790B-99D5-4720-BAA3-6D499B83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991100"/>
            <a:ext cx="323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失败候选不会丢弃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原因、响应和计时全部保留</a:t>
            </a:r>
          </a:p>
        </p:txBody>
      </p:sp>
    </p:spTree>
    <p:extLst>
      <p:ext uri="{BB962C8B-B14F-4D97-AF65-F5344CB8AC3E}">
        <p14:creationId xmlns:p14="http://schemas.microsoft.com/office/powerpoint/2010/main" val="10293282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358805-A0FB-4C49-8D32-53EC9F91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技术关键点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6E009-9B4B-4E0C-8733-80FD72BA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00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DD4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657FB9-6D08-4422-AD55-B58F9291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9144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结构化搜索空间让 Agent 的决策可解释、可执行、可验证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C1922-89FE-4DC3-92B5-5040254F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普通 PyTorch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EA6EE-B8A5-448F-A5E9-F3FFFD0C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多次张量物化与多轮显存往返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B8B61-F5A3-46EA-9BB5-0B8E746B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4476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rPr>
              <a:t>old = state * g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rPr>
              <a:t>old_v = sum(old * k)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rPr>
              <a:t>new_v = βv + (1-β)old_v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rPr>
              <a:t>state = old - k·old_v + k·new_v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941DE5-16E9-416F-810D-6AE35FB4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融合 Triton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A8F234-80BA-4AB3-A151-C21B88E6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F6FAFE"/>
                </a:solidFill>
                <a:latin typeface="Microsoft YaHei"/>
                <a:ea typeface="Microsoft YaHei"/>
                <a:cs typeface="Microsoft YaHei"/>
              </a:rPr>
              <a:t>单内核完成门控、归约、状态更新与输出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E05A3-B9BA-46DF-AEEE-C0B2DC0B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57450"/>
            <a:ext cx="4476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rPr>
              <a:t>delta = β * (v - old_v)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rPr>
              <a:t>state = old + k * delta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rPr>
              <a:t>ROWS = 4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D7E5F2"/>
                </a:solidFill>
                <a:latin typeface="Microsoft YaHei"/>
                <a:ea typeface="Microsoft YaHei"/>
                <a:cs typeface="Microsoft YaHei"/>
              </a:rPr>
              <a:t>num_warps =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211021-5890-4DB4-A0BF-8729DAA0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81300"/>
            <a:ext cx="819150" cy="514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29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7111F"/>
                </a:solidFill>
                <a:latin typeface="Microsoft YaHei"/>
                <a:ea typeface="Microsoft YaHei"/>
                <a:cs typeface="Microsoft YaHei"/>
              </a:rPr>
              <a:t>融合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E12D22-3E2D-42FD-9078-C00EB4AA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940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1DBB0-4E0B-4E1B-A4CD-07F83B59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4EA7FF"/>
                </a:solidFill>
                <a:latin typeface="Microsoft YaHei"/>
                <a:ea typeface="Microsoft YaHei"/>
                <a:cs typeface="Microsoft YaHei"/>
              </a:rPr>
              <a:t>V100 适配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763CED-1CEC-458E-88AE-CA09CC30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BF16 手工读取与舍入，FP32 保存状态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9BFF25-379D-4EC7-AC2F-5C3A935A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8387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调度搜索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ADC42F-8FE0-4A49-AF8F-4008D1DB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197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Agent选择 ROWS、warps 与递推变换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E05003-C25C-4B9C-8A3C-48427909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387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5D187"/>
                </a:solidFill>
                <a:latin typeface="Microsoft YaHei"/>
                <a:ea typeface="Microsoft YaHei"/>
                <a:cs typeface="Microsoft YaHei"/>
              </a:rPr>
              <a:t>可靠验证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D7040E-A5BD-48CB-8EF0-CE34133B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2197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FC1D4"/>
                </a:solidFill>
                <a:latin typeface="Microsoft YaHei"/>
                <a:ea typeface="Microsoft YaHei"/>
                <a:cs typeface="Microsoft YaHei"/>
              </a:rPr>
              <a:t>官方 reference、全量输入和配对复测</a:t>
            </a:r>
          </a:p>
        </p:txBody>
      </p:sp>
    </p:spTree>
    <p:extLst>
      <p:ext uri="{BB962C8B-B14F-4D97-AF65-F5344CB8AC3E}">
        <p14:creationId xmlns:p14="http://schemas.microsoft.com/office/powerpoint/2010/main" val="110282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67B4D-6E26-42C2-BA65-55F4A446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0243A"/>
                </a:solidFill>
                <a:latin typeface="Microsoft YaHei"/>
                <a:ea typeface="Microsoft YaHei"/>
                <a:cs typeface="Microsoft YaHei"/>
              </a:rPr>
              <a:t>性能变化与结论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E8239-5E3D-4E4D-97B7-8E94108B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00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2DD4B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FF25BE-462A-4C65-81BB-E83B4898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742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rPr>
              <a:t>单位：ms，越低越好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28650" y="1409700"/>
          <a:ext xmlns:a="http://schemas.openxmlformats.org/drawingml/2006/main" cx="6858000" cy="36766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918aae133646c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A93CC-EB2E-4038-9C0B-F9C3E788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383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0F8F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0F8F80"/>
                </a:solidFill>
                <a:latin typeface="Microsoft YaHei"/>
                <a:ea typeface="Microsoft YaHei"/>
                <a:cs typeface="Microsoft YaHei"/>
              </a:rPr>
              <a:t>10.985×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7EAE4-B051-45A4-A0AE-CC995059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527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038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0384F"/>
                </a:solidFill>
                <a:latin typeface="Microsoft YaHei"/>
                <a:ea typeface="Microsoft YaHei"/>
                <a:cs typeface="Microsoft YaHei"/>
              </a:rPr>
              <a:t>流程内总加速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6774B-E085-49A1-AF3E-5EF2A3A3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rPr>
              <a:t>54/54 workload 更快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rPr>
              <a:t>54/54 正确，3/3 分支通过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D9511-7681-4AA5-84C4-FE10A9E9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672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038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0384F"/>
                </a:solidFill>
                <a:latin typeface="Microsoft YaHei"/>
                <a:ea typeface="Microsoft YaHei"/>
                <a:cs typeface="Microsoft YaHei"/>
              </a:rPr>
              <a:t>性能口径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41B7C-E95D-47BC-AD38-33A7A7B7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86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rPr>
              <a:t>相对强 Triton 基线：+0.46%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0758A"/>
                </a:solidFill>
                <a:latin typeface="Microsoft YaHei"/>
                <a:ea typeface="Microsoft YaHei"/>
                <a:cs typeface="Microsoft YaHei"/>
              </a:rPr>
              <a:t>GDN Prefill 强基线：+1.454%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834B51-1EFA-4F59-A945-18E55F9F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F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5D4FAF-BEA7-4A92-95B2-9C7D9E70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0243A"/>
                </a:solidFill>
                <a:latin typeface="Microsoft YaHei"/>
                <a:ea typeface="Microsoft YaHei"/>
                <a:cs typeface="Microsoft YaHei"/>
              </a:rPr>
              <a:t>结论：普通基线能展示自动优化流程的完整价值；强基线用于衡量真正的增量优化能力</a:t>
            </a:r>
          </a:p>
        </p:txBody>
      </p:sp>
    </p:spTree>
    <p:extLst>
      <p:ext uri="{BB962C8B-B14F-4D97-AF65-F5344CB8AC3E}">
        <p14:creationId xmlns:p14="http://schemas.microsoft.com/office/powerpoint/2010/main" val="4586041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2026-09-23T02:08:10.7650000Z</dcterms:created>
  <dcterms:modified xsi:type="dcterms:W3CDTF">2026-09-23T02:08:10.7660000Z</dcterms:modified>
</coreProperties>
</file>